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7726649e2445b0" /><Relationship Type="http://schemas.openxmlformats.org/officeDocument/2006/relationships/extended-properties" Target="/docProps/app.xml" Id="R648b5a42d44141da" /><Relationship Type="http://schemas.openxmlformats.org/officeDocument/2006/relationships/officeDocument" Target="/ppt/presentation.xml" Id="R5a4c23e8a63344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4dcf78ffe941be"/>
  </p:sldMasterIdLst>
  <p:notesMasterIdLst>
    <p:notesMasterId xmlns:r="http://schemas.openxmlformats.org/officeDocument/2006/relationships" r:id="Rddfc686ed1904115"/>
  </p:notesMasterIdLst>
  <p:sldIdLst>
    <p:sldId xmlns:r="http://schemas.openxmlformats.org/officeDocument/2006/relationships" id="256" r:id="R82df35e00ea44ec6"/>
    <p:sldId xmlns:r="http://schemas.openxmlformats.org/officeDocument/2006/relationships" id="257" r:id="R0a06296206c34c4e"/>
    <p:sldId xmlns:r="http://schemas.openxmlformats.org/officeDocument/2006/relationships" id="258" r:id="Re9020d09b6e548dd"/>
    <p:sldId xmlns:r="http://schemas.openxmlformats.org/officeDocument/2006/relationships" id="259" r:id="Rd5c6401750c14ffd"/>
    <p:sldId xmlns:r="http://schemas.openxmlformats.org/officeDocument/2006/relationships" id="260" r:id="Re0b8c00d21a84fc0"/>
    <p:sldId xmlns:r="http://schemas.openxmlformats.org/officeDocument/2006/relationships" id="261" r:id="Ra28c19d730584b3d"/>
    <p:sldId xmlns:r="http://schemas.openxmlformats.org/officeDocument/2006/relationships" id="262" r:id="Rfca720c661be4328"/>
    <p:sldId xmlns:r="http://schemas.openxmlformats.org/officeDocument/2006/relationships" id="263" r:id="R2e815d7e93ae417b"/>
    <p:sldId xmlns:r="http://schemas.openxmlformats.org/officeDocument/2006/relationships" id="264" r:id="Reb3879362f0c4d0f"/>
    <p:sldId xmlns:r="http://schemas.openxmlformats.org/officeDocument/2006/relationships" id="265" r:id="Rca3de936d723415d"/>
    <p:sldId xmlns:r="http://schemas.openxmlformats.org/officeDocument/2006/relationships" id="266" r:id="R7d97189f386a47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9f4cccf0b24750" /><Relationship Type="http://schemas.openxmlformats.org/officeDocument/2006/relationships/slideMaster" Target="/ppt/slideMasters/slideMaster1.xml" Id="R5b4dcf78ffe941be" /><Relationship Type="http://schemas.openxmlformats.org/officeDocument/2006/relationships/notesMaster" Target="/ppt/notesMasters/notesMaster1.xml" Id="Rddfc686ed1904115" /><Relationship Type="http://schemas.openxmlformats.org/officeDocument/2006/relationships/presProps" Target="/ppt/presProps.xml" Id="R80e39cc7d4c94968" /><Relationship Type="http://schemas.openxmlformats.org/officeDocument/2006/relationships/tableStyles" Target="/ppt/tableStyles.xml" Id="R0813e33da67643d6" /><Relationship Type="http://schemas.openxmlformats.org/officeDocument/2006/relationships/slide" Target="/ppt/slides/slide1.xml" Id="R82df35e00ea44ec6" /><Relationship Type="http://schemas.openxmlformats.org/officeDocument/2006/relationships/slide" Target="/ppt/slides/slide2.xml" Id="R0a06296206c34c4e" /><Relationship Type="http://schemas.openxmlformats.org/officeDocument/2006/relationships/slide" Target="/ppt/slides/slide3.xml" Id="Re9020d09b6e548dd" /><Relationship Type="http://schemas.openxmlformats.org/officeDocument/2006/relationships/slide" Target="/ppt/slides/slide4.xml" Id="Rd5c6401750c14ffd" /><Relationship Type="http://schemas.openxmlformats.org/officeDocument/2006/relationships/slide" Target="/ppt/slides/slide5.xml" Id="Re0b8c00d21a84fc0" /><Relationship Type="http://schemas.openxmlformats.org/officeDocument/2006/relationships/slide" Target="/ppt/slides/slide6.xml" Id="Ra28c19d730584b3d" /><Relationship Type="http://schemas.openxmlformats.org/officeDocument/2006/relationships/slide" Target="/ppt/slides/slide7.xml" Id="Rfca720c661be4328" /><Relationship Type="http://schemas.openxmlformats.org/officeDocument/2006/relationships/slide" Target="/ppt/slides/slide8.xml" Id="R2e815d7e93ae417b" /><Relationship Type="http://schemas.openxmlformats.org/officeDocument/2006/relationships/slide" Target="/ppt/slides/slide9.xml" Id="Reb3879362f0c4d0f" /><Relationship Type="http://schemas.openxmlformats.org/officeDocument/2006/relationships/slide" Target="/ppt/slides/slide10.xml" Id="Rca3de936d723415d" /><Relationship Type="http://schemas.openxmlformats.org/officeDocument/2006/relationships/slide" Target="/ppt/slides/slide11.xml" Id="R7d97189f386a47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669f91a14b49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bbd9c10f9a45a7" /><Relationship Type="http://schemas.openxmlformats.org/officeDocument/2006/relationships/notesMaster" Target="/ppt/notesMasters/notesMaster1.xml" Id="Rd01aedb8b58f40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6b8d95567b4556" /><Relationship Type="http://schemas.openxmlformats.org/officeDocument/2006/relationships/notesMaster" Target="/ppt/notesMasters/notesMaster1.xml" Id="R4c3de6e2b1cd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65f8ef1d944f77" /><Relationship Type="http://schemas.openxmlformats.org/officeDocument/2006/relationships/notesMaster" Target="/ppt/notesMasters/notesMaster1.xml" Id="Rdfb8a3c049a045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d32bcc35cd4e25" /><Relationship Type="http://schemas.openxmlformats.org/officeDocument/2006/relationships/notesMaster" Target="/ppt/notesMasters/notesMaster1.xml" Id="Rbce7baa57a4042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cb8b4c075e421b" /><Relationship Type="http://schemas.openxmlformats.org/officeDocument/2006/relationships/notesMaster" Target="/ppt/notesMasters/notesMaster1.xml" Id="R09e4c1595eef47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4c2f1281c44866" /><Relationship Type="http://schemas.openxmlformats.org/officeDocument/2006/relationships/notesMaster" Target="/ppt/notesMasters/notesMaster1.xml" Id="R714411f05a924c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784fb603a148c3" /><Relationship Type="http://schemas.openxmlformats.org/officeDocument/2006/relationships/notesMaster" Target="/ppt/notesMasters/notesMaster1.xml" Id="R1655dc001a1847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0a81230a874e4c" /><Relationship Type="http://schemas.openxmlformats.org/officeDocument/2006/relationships/notesMaster" Target="/ppt/notesMasters/notesMaster1.xml" Id="Rafdeabdd494e4f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2b4d84eb0447bb" /><Relationship Type="http://schemas.openxmlformats.org/officeDocument/2006/relationships/notesMaster" Target="/ppt/notesMasters/notesMaster1.xml" Id="R3c5d16a63ae84f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76db1ddbce47cb" /><Relationship Type="http://schemas.openxmlformats.org/officeDocument/2006/relationships/notesMaster" Target="/ppt/notesMasters/notesMaster1.xml" Id="R7ac10d453ab343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3aca39f5ad4616" /><Relationship Type="http://schemas.openxmlformats.org/officeDocument/2006/relationships/notesMaster" Target="/ppt/notesMasters/notesMaster1.xml" Id="Raa9e0417833c4f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本页不得使用 Result/demo 中的合成结果。正式图表从 Result/official 生成。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8b16d0f0a41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3ab8e1cb14d5c" /><Relationship Type="http://schemas.openxmlformats.org/officeDocument/2006/relationships/slideLayout" Target="/ppt/slideLayouts/slideLayout1.xml" Id="Rf9daa4ee1eb449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daa4ee1eb449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37bbf24b24443" /><Relationship Type="http://schemas.openxmlformats.org/officeDocument/2006/relationships/notesSlide" Target="/ppt/notesSlides/notesSlide1.xml" Id="Raadaced64bcd4f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06ef6fadf425a" /><Relationship Type="http://schemas.openxmlformats.org/officeDocument/2006/relationships/notesSlide" Target="/ppt/notesSlides/notesSlide2.xml" Id="Rbae570efccc14a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def46f0734335" /><Relationship Type="http://schemas.openxmlformats.org/officeDocument/2006/relationships/notesSlide" Target="/ppt/notesSlides/notesSlide3.xml" Id="R52b0b0691d364a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bfaf9bc67418c" /><Relationship Type="http://schemas.openxmlformats.org/officeDocument/2006/relationships/notesSlide" Target="/ppt/notesSlides/notesSlide4.xml" Id="Rd907e05e37bd4e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0e3c1de95469e" /><Relationship Type="http://schemas.openxmlformats.org/officeDocument/2006/relationships/notesSlide" Target="/ppt/notesSlides/notesSlide5.xml" Id="R526b40b47a2643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65489ca484c8c" /><Relationship Type="http://schemas.openxmlformats.org/officeDocument/2006/relationships/notesSlide" Target="/ppt/notesSlides/notesSlide6.xml" Id="R2dd87ca9595d46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ef53a1a4b4c59" /><Relationship Type="http://schemas.openxmlformats.org/officeDocument/2006/relationships/notesSlide" Target="/ppt/notesSlides/notesSlide7.xml" Id="R83e31d5a0aa94b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2c5398fdd4607" /><Relationship Type="http://schemas.openxmlformats.org/officeDocument/2006/relationships/notesSlide" Target="/ppt/notesSlides/notesSlide8.xml" Id="R584c6c4d34af45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18f427ce24430" /><Relationship Type="http://schemas.openxmlformats.org/officeDocument/2006/relationships/notesSlide" Target="/ppt/notesSlides/notesSlide9.xml" Id="R2a0205c90e7141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9bfd71749495f" /><Relationship Type="http://schemas.openxmlformats.org/officeDocument/2006/relationships/notesSlide" Target="/ppt/notesSlides/notesSlide10.xml" Id="Rf920757040734d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0a31e9ccc43b1" /><Relationship Type="http://schemas.openxmlformats.org/officeDocument/2006/relationships/notesSlide" Target="/ppt/notesSlides/notesSlide11.xml" Id="R0397ba9dedba41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87C88-B4E7-46CF-A462-1EB87A9B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中证 A500 指数增强基金设计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1E567-BB92-4220-A3EF-78A732F0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D8E7F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7F2"/>
                </a:solidFill>
                <a:latin typeface="Arial Unicode MS"/>
                <a:ea typeface="Arial Unicode MS"/>
                <a:cs typeface="Arial Unicode MS"/>
              </a:rPr>
              <a:t>多因子观点  Black-Litterman  约束优化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438A6-16CD-4F08-B30F-A94D8524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第一次小组作业  第    组</a:t>
            </a:r>
          </a:p>
        </p:txBody>
      </p:sp>
    </p:spTree>
    <p:extLst>
      <p:ext uri="{BB962C8B-B14F-4D97-AF65-F5344CB8AC3E}">
        <p14:creationId xmlns:p14="http://schemas.microsoft.com/office/powerpoint/2010/main" val="2083397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54396-7A64-4A69-9CF8-0F8906AF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研究问题与硬约束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D1778-15F2-4CBD-93EB-AF75DE38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3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0F293-B6B1-4685-A2A2-8B7297EF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01E94-265D-4683-97F1-C6C85785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82C92-7951-40E9-BAA1-304F7477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287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目标：在控制相对风险的前提下获取稳定超额收益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7FAD9-2B54-4226-9B46-1928E67D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53519-9C89-4348-A928-F9ED4A46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调仓：周频信号，下一交易日执行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189E6-B7AE-46D8-9C3B-34E50BAF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96AF3-A1F9-47B5-BA5D-550FF906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风险：年化预期跟踪误差不超过 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2D02C-BB11-44DE-B436-7F488D59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F6539-576F-42E2-A5E9-1A11B63A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交易：多头、行业偏离受控、单周单边换手率不超过 20%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E6630-91E2-4F20-A409-703AB82F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所有正式结论均以 Wind 历史时点数据为依据</a:t>
            </a:r>
          </a:p>
        </p:txBody>
      </p:sp>
    </p:spTree>
    <p:extLst>
      <p:ext uri="{BB962C8B-B14F-4D97-AF65-F5344CB8AC3E}">
        <p14:creationId xmlns:p14="http://schemas.microsoft.com/office/powerpoint/2010/main" val="1069780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09CE2-8BC1-49E8-9161-FF52A370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中证 A500 与指数增强基金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36CC8-F070-4578-8382-D5EF2407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3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48F31-B9DB-4214-9F3B-1902115B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4F6F2-DC6E-4A6D-B183-A7058B2C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指数特征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62B9B-30E2-4FFD-9D4F-5859E381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476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正式报告补充编制方案、行业覆盖、权重规则与调整机制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C6E2F-C37B-486F-BB2A-21A71E47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增强收益来源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44FE3-14E8-4931-88BB-3AFB6F7F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476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股票选择、风险预算、交易执行与成本控制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535F4-397A-4056-A338-FAD48D96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产品比较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AE14F-3394-421C-BA41-78A012C1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9810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选取可比基金，核验投资范围、费率、规模与跟踪目标</a:t>
            </a:r>
          </a:p>
        </p:txBody>
      </p:sp>
    </p:spTree>
    <p:extLst>
      <p:ext uri="{BB962C8B-B14F-4D97-AF65-F5344CB8AC3E}">
        <p14:creationId xmlns:p14="http://schemas.microsoft.com/office/powerpoint/2010/main" val="1404142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D7515-D04E-4215-BA06-FF404322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数据口径与防前视处理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80007-79F9-45FE-9D35-B8FB0363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3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429A6-F099-4490-A449-D562271F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B093E-8C77-47CD-902D-06AC072B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历史成分与权重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2CAFD-B2CE-4117-B1E4-FD15379F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81125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只使用信号日前最近生效快照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AA29B-8783-4370-9262-793BE963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行情与交易状态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56F4D-DBB9-401B-85AA-F2180826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52675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信号日收盘后计算，次日执行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CD3DA-132E-4B6C-98F6-AF2C312B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财务指标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6D91C-CCEF-4E0E-8E87-E50919C3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24225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公告日后的下一交易日起生效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29CFF-1907-4A44-9183-CC7E66FE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行业分类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40E61-62C5-4DBF-AECE-7CC5D3DA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95775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按历史生效日期向后匹配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CD609-0EDA-4F1F-9CBD-6B30AF98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67375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17A1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17A19"/>
                </a:solidFill>
                <a:latin typeface="Arial Unicode MS"/>
                <a:ea typeface="Arial Unicode MS"/>
                <a:cs typeface="Arial Unicode MS"/>
              </a:rPr>
              <a:t>数据审计失败时停止回测，不修改原始 Wind 数值</a:t>
            </a:r>
          </a:p>
        </p:txBody>
      </p:sp>
    </p:spTree>
    <p:extLst>
      <p:ext uri="{BB962C8B-B14F-4D97-AF65-F5344CB8AC3E}">
        <p14:creationId xmlns:p14="http://schemas.microsoft.com/office/powerpoint/2010/main" val="1196018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F8519-F314-425C-956D-76C48409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策略流程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81105-1F3E-4EF2-9DB7-CE6B7DDC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3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4D1B1-783D-4DB7-BD0F-A8A4D0FA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8396C-42F9-4C95-8C40-66FB266C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Wind 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33AD9-5DDF-4DBC-A1B0-EFF1BCD1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6B9E2-560E-4D9B-A665-9BC17B56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1937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因子标准化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B05C4-71FF-4C32-B8E1-4AC48A65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743200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AC3DC-2576-4DDC-BB14-CCFC2A70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1937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滚动 ICIR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42465-D40D-4F49-BBD3-1A2789F1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C85DB-339D-4281-8CF0-950BC00F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1937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BL 后验收益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A2396-7241-428F-8CA3-7C931EC5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743200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E6CD1-AFD3-4D35-9C2C-A26C12C4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约束优化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05FF6-658C-4107-93A4-AA2359FE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33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B343D-4248-4D9C-B95D-2B98A2ED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1937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周频回测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9C66B-51A8-417A-BF4E-4C5731CC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29125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每个调仓日保存目标权重、实际权重、约束结果与优化状态</a:t>
            </a:r>
          </a:p>
        </p:txBody>
      </p:sp>
    </p:spTree>
    <p:extLst>
      <p:ext uri="{BB962C8B-B14F-4D97-AF65-F5344CB8AC3E}">
        <p14:creationId xmlns:p14="http://schemas.microsoft.com/office/powerpoint/2010/main" val="2069445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E03B4-089A-4E1F-8DA5-93B2544E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四类因子与有效性检验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573A4-D0AA-4701-871A-45415975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3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8472E-8DA1-4545-9DC7-534B8BB5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D7432-CA75-464D-824A-DC9D716D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68329-483D-468D-A96A-F3B72498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381125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EP  BP  SP  股息率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96A90-81E0-4E3D-9227-6D78BD30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65509-14E7-405C-A78C-72EE1EC7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ROE  毛利率  现金流质量  低杠杆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E1498-72AD-4189-AE2B-260AF1D9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动量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79D8D-7590-4D95-996F-2A87A619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81375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过去 12 个月剔除最近 1 个月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41000-AE83-4F1A-BAA0-79EB362F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低波动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96743-3B6D-4965-8CAE-5D1443AB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8150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近 60 日波动率与下行波动率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6EBA6-7E12-4455-8D81-DCF7D4CD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报告覆盖率、Rank IC、ICIR、分组收益、换手率与因子相关性</a:t>
            </a:r>
          </a:p>
        </p:txBody>
      </p:sp>
    </p:spTree>
    <p:extLst>
      <p:ext uri="{BB962C8B-B14F-4D97-AF65-F5344CB8AC3E}">
        <p14:creationId xmlns:p14="http://schemas.microsoft.com/office/powerpoint/2010/main" val="244789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A9871-3352-4FEC-8417-9A20D69C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Black-Litterman 观点融合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8CF20-04A9-4302-91E8-E6FD1895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3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12A7D-1B72-4B04-A76D-3F47ED6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883EE-5217-4E0F-AA82-E6626377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市场均衡收益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69F5F-98FE-415F-8FEF-B31D48E3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19996-479C-4DFA-ACCE-0C9FA62E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1450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多因子相对收益观点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6A848-8FCC-4303-958E-86F403F7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4F45F-C5DC-46C0-A027-BEFB8FCC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145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后验预期收益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5CC43-A1FC-48F8-812A-5FAA6219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0CAA9-46D5-49D7-8C7B-91D4F258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33750"/>
            <a:ext cx="954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基准权重与协方差矩阵生成均衡先验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2469A-ECD1-4932-BD35-F9D519CF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A75CA-73B0-4D42-93B3-610166F5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62400"/>
            <a:ext cx="954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观点置信度由滚动 IC 稳定性确定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D0D70-3720-4B73-83EC-10DDFE23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44E22-DB89-4C27-8C62-69A2C728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91050"/>
            <a:ext cx="954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完整策略与不使用 BL 的组合进行对照</a:t>
            </a:r>
          </a:p>
        </p:txBody>
      </p:sp>
    </p:spTree>
    <p:extLst>
      <p:ext uri="{BB962C8B-B14F-4D97-AF65-F5344CB8AC3E}">
        <p14:creationId xmlns:p14="http://schemas.microsoft.com/office/powerpoint/2010/main" val="1443300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AF6E3-7258-4E12-8C20-5C9EC167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组合约束与交易规则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D0DDD-5F70-4E3D-BB83-10CFA81B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3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0F20-350E-47E7-9FA7-A4D54CB3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C4A40-C3D4-4FA5-AD04-0840787D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2619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跟踪误差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CA1FA-B5C2-4316-A295-2FD83E9E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3811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≤ 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E0D63-8E8B-4B02-AF57-CC33289E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2619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行业主动偏离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70F08-0DC1-49B8-B25F-84E27529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≤ ±2 个百分点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8798E-A9B7-4757-89ED-9588E667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2619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个股主动偏离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9BE7C-3658-49E5-9DFA-F3637ACA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146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≤ ±1 个百分点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7D90E-A4F3-4725-A183-D0996EB2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2619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单周单边换手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11980-3E0E-446C-BC0F-588AB8C8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146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≤ 20%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7A37B-DFEA-4AC1-8DE4-ADBED694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2619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交易成本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A8112-D28F-4248-B35C-3000F3DC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481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主结果 20bp</a:t>
            </a:r>
          </a:p>
        </p:txBody>
      </p:sp>
    </p:spTree>
    <p:extLst>
      <p:ext uri="{BB962C8B-B14F-4D97-AF65-F5344CB8AC3E}">
        <p14:creationId xmlns:p14="http://schemas.microsoft.com/office/powerpoint/2010/main" val="9377174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10F08-96E7-491F-987A-B0468114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正式回测绩效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EFF74-6FF9-42AF-A815-6AA79F5A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3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FAD3E-E962-48DB-B7E6-C646B90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791B2-D810-4944-8512-03B6C93A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导入 Wind 数据并运行正式回测后，在此插入净值与累计超额收益图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2088C-AB61-4A45-97F6-90076598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必报指标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5D5EE-5483-4E6F-8953-E119B331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年化收益  年化超额收益  Sharpe  最大回撤  信息比率  实现跟踪误差</a:t>
            </a:r>
          </a:p>
        </p:txBody>
      </p:sp>
    </p:spTree>
    <p:extLst>
      <p:ext uri="{BB962C8B-B14F-4D97-AF65-F5344CB8AC3E}">
        <p14:creationId xmlns:p14="http://schemas.microsoft.com/office/powerpoint/2010/main" val="11993600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8CC0F-3B7A-48C0-97BE-56C4A423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风险约束与稳健性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13843-AAA4-4126-8243-5103A878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3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AF9D5-7F9F-4B6E-AADF-E581CA1A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5E4B7-A971-4F62-9CB8-527F2802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约束诊断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FE76A-830A-4A77-BD83-D5D38F15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2CEBE-7AE5-4F9F-810A-109CA72C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0002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滚动 20 周实现跟踪误差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837AA-81E2-4976-8229-44A0692C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C5F1A-FED9-4780-94BF-70CC8D39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670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行业主动权重与最大偏离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23A26-6A23-4992-9664-F1ABDE50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FB495-812C-4BA4-BF6A-79F7651B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337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周度换手率与优化状态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3E001-4DD8-452F-B74B-AB6A56B1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稳健性实验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911DD-2F8B-40F3-A190-A97B206E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E5FD4-13EB-4F59-87D2-C51682AC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002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交易成本 10 / 20 / 30bp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88E60-1CCD-48AA-BED8-B34D46D5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29EA9-091F-4CFE-B0A0-3EF7CA9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670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风险预算 4% / 5% / 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A77ED-E277-48E1-89E3-3A8A99AC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A4B4E-F6B0-443F-9C0E-9CD3AA84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3337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因子剔除与无 BL 对照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E0D0A-D5B8-475A-9D1C-3D2126B0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正式回测后插入对比图表，并解释不利结果</a:t>
            </a:r>
          </a:p>
        </p:txBody>
      </p:sp>
    </p:spTree>
    <p:extLst>
      <p:ext uri="{BB962C8B-B14F-4D97-AF65-F5344CB8AC3E}">
        <p14:creationId xmlns:p14="http://schemas.microsoft.com/office/powerpoint/2010/main" val="17513308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D887B-79A9-4FFA-BACF-1D4DB232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3A5F"/>
                </a:solidFill>
                <a:latin typeface="Arial Unicode MS"/>
                <a:ea typeface="Arial Unicode MS"/>
                <a:cs typeface="Arial Unicode MS"/>
              </a:rPr>
              <a:t>结论 局限与成员分工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7E72C-DADE-4AFA-903C-B9A5B59D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33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719CA-1CAF-4FCA-AAEF-9DB94C55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70407-4465-42ED-89B3-2902E3D4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83C6B-50A0-415D-B527-489B10C3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正式 Wind 结果完成后填写，不预设策略有效性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C4CCB-D2E9-4208-A1FC-485C41C4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局限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69AAF-C6DF-4206-B6ED-51172704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指数历史长度、数据更新频率、成本假设与参数误差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72E9C-011D-4F08-B68B-B83C3C29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E6F9E"/>
                </a:solidFill>
                <a:latin typeface="Arial Unicode MS"/>
                <a:ea typeface="Arial Unicode MS"/>
                <a:cs typeface="Arial Unicode MS"/>
              </a:rPr>
              <a:t>成员分工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95F4D-74D4-46F0-9164-D7D7E645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5202B"/>
                </a:solidFill>
                <a:latin typeface="Arial Unicode MS"/>
                <a:ea typeface="Arial Unicode MS"/>
                <a:cs typeface="Arial Unicode MS"/>
              </a:rPr>
              <a:t>按成员列明 Wind 导出、数据清洗、因子、BL 优化、回测、报告与交叉核验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F19F6-2AD2-4C50-B03B-5951CBCD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37F"/>
                </a:solidFill>
                <a:latin typeface="Arial Unicode MS"/>
                <a:ea typeface="Arial Unicode MS"/>
                <a:cs typeface="Arial Unicode MS"/>
              </a:rPr>
              <a:t>AI 使用说明：Codex 用于流程设计、代码框架和模板；小组成员核验全部数据、代码与结论</a:t>
            </a:r>
          </a:p>
        </p:txBody>
      </p:sp>
    </p:spTree>
    <p:extLst>
      <p:ext uri="{BB962C8B-B14F-4D97-AF65-F5344CB8AC3E}">
        <p14:creationId xmlns:p14="http://schemas.microsoft.com/office/powerpoint/2010/main" val="1621559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2026-09-24T07:45:04.7690000Z</dcterms:created>
  <dcterms:modified xsi:type="dcterms:W3CDTF">2026-09-24T07:45:04.7690000Z</dcterms:modified>
</coreProperties>
</file>